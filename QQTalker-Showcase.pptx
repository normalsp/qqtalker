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68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8609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3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6400800"/>
          </a:xfrm>
          <a:prstGeom prst="rect">
            <a:avLst/>
          </a:prstGeom>
          <a:solidFill>
            <a:srgbClr val="1E2761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B347F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6C8EFF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7680960" cy="2560320"/>
          </a:xfrm>
          <a:prstGeom prst="roundRect">
            <a:avLst>
              <a:gd name="adj" fmla="val 7143"/>
            </a:avLst>
          </a:prstGeom>
          <a:solidFill>
            <a:srgbClr val="1E2761">
              <a:alpha val="60000"/>
            </a:srgbClr>
          </a:solidFill>
          <a:ln/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QQTalker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AI驱动的QQ智能聊天机器人平台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3063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将你的QQ号变成一只可爱的猫娘AI机器人（Claw）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20624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1E2761">
              <a:alpha val="70000"/>
            </a:srgbClr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32511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2688" y="4206240"/>
            <a:ext cx="1170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群聊共享上下文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240280" y="420624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1E2761">
              <a:alpha val="70000"/>
            </a:srgbClr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3432" y="4325112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24328" y="4206240"/>
            <a:ext cx="1170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语音交互 TTS/STT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3931920" y="420624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1E2761">
              <a:alpha val="70000"/>
            </a:srgbClr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5072" y="4325112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15968" y="4206240"/>
            <a:ext cx="1170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图片识别 Vision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623560" y="420624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1E2761">
              <a:alpha val="70000"/>
            </a:srgbClr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6712" y="4325112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007608" y="4206240"/>
            <a:ext cx="1170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智能占卜系统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7315200" y="420624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1E2761">
              <a:alpha val="70000"/>
            </a:srgbClr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8352" y="4325112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699248" y="4206240"/>
            <a:ext cx="1170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 Dashboard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6C8EFF">
              <a:alpha val="20000"/>
            </a:srgbClr>
          </a:solidFill>
          <a:ln/>
        </p:spPr>
      </p:sp>
      <p:sp>
        <p:nvSpPr>
          <p:cNvPr id="26" name="Text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Powered by DeepSeek / OpenAI API  |  OneBot Protocol  |  Node.js + TypeScript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6C8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>
              <a:alpha val="4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228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项目概述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188720" y="640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C8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1E2761">
              <a:alpha val="50000"/>
            </a:srgbClr>
          </a:solidFill>
          <a:ln/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50876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6C8EFF"/>
                </a:solidFill>
              </a:rPr>
              <a:t>什么是 QQTalker？
</a:t>
            </a:r>
            <a:r>
              <a:rPr lang="en-US" sz="1300" dirty="0">
                <a:solidFill>
                  <a:srgbClr val="E2E8F0"/>
                </a:solidFill>
              </a:rPr>
              <a:t>QQTalker 是一款基于 </a:t>
            </a:r>
            <a:r>
              <a:rPr lang="en-US" sz="1300" dirty="0">
                <a:solidFill>
                  <a:srgbClr val="00D4FF"/>
                </a:solidFill>
              </a:rPr>
              <a:t>Node.js + TypeScript</a:t>
            </a:r>
            <a:r>
              <a:rPr lang="en-US" sz="1300" dirty="0">
                <a:solidFill>
                  <a:srgbClr val="E2E8F0"/>
                </a:solidFill>
              </a:rPr>
              <a:t> 开发的 QQ 聊天机器人框架，通过 </a:t>
            </a:r>
            <a:r>
              <a:rPr lang="en-US" sz="1300" dirty="0">
                <a:solidFill>
                  <a:srgbClr val="FBBF24"/>
                </a:solidFill>
              </a:rPr>
              <a:t>OneBot 协议</a:t>
            </a:r>
            <a:r>
              <a:rPr lang="en-US" sz="1300" dirty="0">
                <a:solidFill>
                  <a:srgbClr val="E2E8F0"/>
                </a:solidFill>
              </a:rPr>
              <a:t> 与 QQ 通信，接入 AI 大模型 API 实现智能对话。
</a:t>
            </a:r>
            <a:r>
              <a:rPr lang="en-US" sz="1200" i="1" dirty="0">
                <a:solidFill>
                  <a:srgbClr val="8892B0"/>
                </a:solidFill>
              </a:rPr>
              <a:t>核心定位：让每个 QQ 群都拥有一个有记忆、会思考、能互动的 AI 助手。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06440" y="182880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1E2761">
              <a:alpha val="55000"/>
            </a:srgbClr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47472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37960" y="274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C8E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14+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7680960" y="36576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核心服务模块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806440" y="1143000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1E2761">
              <a:alpha val="55000"/>
            </a:srgbClr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307592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37960" y="1234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347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20+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7680960" y="132588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支持的功能特性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806440" y="2103120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1E2761">
              <a:alpha val="55000"/>
            </a:srgbClr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2267712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37960" y="21945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DE8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100%</a:t>
            </a:r>
            <a:endParaRPr lang="en-US" sz="2400" dirty="0"/>
          </a:p>
        </p:txBody>
      </p:sp>
      <p:sp>
        <p:nvSpPr>
          <p:cNvPr id="20" name="Text 14"/>
          <p:cNvSpPr/>
          <p:nvPr/>
        </p:nvSpPr>
        <p:spPr>
          <a:xfrm>
            <a:off x="7680960" y="22860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TypeScript覆盖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806440" y="3063240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1E2761">
              <a:alpha val="55000"/>
            </a:srgbClr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3227832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37960" y="3154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BBF2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&lt;50ms</a:t>
            </a:r>
            <a:endParaRPr lang="en-US" sz="2400" dirty="0"/>
          </a:p>
        </p:txBody>
      </p:sp>
      <p:sp>
        <p:nvSpPr>
          <p:cNvPr id="24" name="Text 17"/>
          <p:cNvSpPr/>
          <p:nvPr/>
        </p:nvSpPr>
        <p:spPr>
          <a:xfrm>
            <a:off x="7680960" y="324612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消息响应延迟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457200" y="3520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8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技术栈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457200" y="3931920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6C8EFF">
              <a:alpha val="25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457200" y="39319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1527048" y="3931920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6C8EFF">
              <a:alpha val="25000"/>
            </a:srgbClr>
          </a:solidFill>
          <a:ln/>
        </p:spPr>
      </p:sp>
      <p:sp>
        <p:nvSpPr>
          <p:cNvPr id="29" name="Text 22"/>
          <p:cNvSpPr/>
          <p:nvPr/>
        </p:nvSpPr>
        <p:spPr>
          <a:xfrm>
            <a:off x="1527048" y="39319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2596896" y="3931920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6C8EFF">
              <a:alpha val="25000"/>
            </a:srgbClr>
          </a:solidFill>
          <a:ln/>
        </p:spPr>
      </p:sp>
      <p:sp>
        <p:nvSpPr>
          <p:cNvPr id="31" name="Text 24"/>
          <p:cNvSpPr/>
          <p:nvPr/>
        </p:nvSpPr>
        <p:spPr>
          <a:xfrm>
            <a:off x="2596896" y="39319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WebSocket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3666744" y="3931920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6C8EFF">
              <a:alpha val="25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3666744" y="39319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API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736592" y="3931920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6C8EFF">
              <a:alpha val="25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736592" y="39319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edge-tts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5788152" y="3936492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6C8EFF">
              <a:alpha val="25000"/>
            </a:srgbClr>
          </a:solidFill>
          <a:ln/>
        </p:spPr>
      </p:sp>
      <p:sp>
        <p:nvSpPr>
          <p:cNvPr id="37" name="Text 30"/>
          <p:cNvSpPr/>
          <p:nvPr/>
        </p:nvSpPr>
        <p:spPr>
          <a:xfrm>
            <a:off x="5788152" y="393649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OneBot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6858000" y="3936492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6C8EFF">
              <a:alpha val="25000"/>
            </a:srgbClr>
          </a:solidFill>
          <a:ln/>
        </p:spPr>
      </p:sp>
      <p:sp>
        <p:nvSpPr>
          <p:cNvPr id="39" name="Text 32"/>
          <p:cNvSpPr/>
          <p:nvPr/>
        </p:nvSpPr>
        <p:spPr>
          <a:xfrm>
            <a:off x="6858000" y="393649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SSE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7927848" y="3936492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6C8EFF">
              <a:alpha val="25000"/>
            </a:srgbClr>
          </a:solidFill>
          <a:ln/>
        </p:spPr>
      </p:sp>
      <p:sp>
        <p:nvSpPr>
          <p:cNvPr id="41" name="Text 34"/>
          <p:cNvSpPr/>
          <p:nvPr/>
        </p:nvSpPr>
        <p:spPr>
          <a:xfrm>
            <a:off x="7927848" y="393649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050810">
              <a:alpha val="70000"/>
            </a:srgbClr>
          </a:solidFill>
          <a:ln/>
        </p:spPr>
      </p:sp>
      <p:sp>
        <p:nvSpPr>
          <p:cNvPr id="43" name="Text 3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</a:rPr>
              <a:t>v1.0.0  |  MIT License  |  支持 Windows/Linux/macOS  |  单文件可执行(.exe)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>
              <a:alpha val="4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828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核心功能矩阵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43000" y="566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C8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FEATURES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2743200" cy="1783080"/>
          </a:xfrm>
          <a:prstGeom prst="roundRect">
            <a:avLst>
              <a:gd name="adj" fmla="val 6154"/>
            </a:avLst>
          </a:prstGeom>
          <a:solidFill>
            <a:srgbClr val="1E2761">
              <a:alpha val="70000"/>
            </a:srgbClr>
          </a:solidFill>
          <a:ln/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188720"/>
            <a:ext cx="2743200" cy="54864"/>
          </a:xfrm>
          <a:prstGeom prst="rect">
            <a:avLst/>
          </a:prstGeom>
          <a:solidFill>
            <a:srgbClr val="6C8EFF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371600"/>
            <a:ext cx="548640" cy="548640"/>
          </a:xfrm>
          <a:prstGeom prst="ellipse">
            <a:avLst/>
          </a:prstGeom>
          <a:solidFill>
            <a:srgbClr val="6C8EFF">
              <a:alpha val="15000"/>
            </a:srgbClr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4356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1389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智能对话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02920" y="20116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</a:rPr>
              <a:t>DeepSeek/OpenAI 兼容API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</a:rPr>
              <a:t>多轮上下文记忆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</a:rPr>
              <a:t>@触发回复机制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46120" y="1188720"/>
            <a:ext cx="2743200" cy="1783080"/>
          </a:xfrm>
          <a:prstGeom prst="roundRect">
            <a:avLst>
              <a:gd name="adj" fmla="val 6154"/>
            </a:avLst>
          </a:prstGeom>
          <a:solidFill>
            <a:srgbClr val="1B4332">
              <a:alpha val="70000"/>
            </a:srgbClr>
          </a:solidFill>
          <a:ln/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46120" y="1188720"/>
            <a:ext cx="274320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Shape 10"/>
          <p:cNvSpPr/>
          <p:nvPr/>
        </p:nvSpPr>
        <p:spPr>
          <a:xfrm>
            <a:off x="3383280" y="1371600"/>
            <a:ext cx="548640" cy="548640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143560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023360" y="1389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群聊共享模式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383280" y="20116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</a:rPr>
              <a:t>全群共享对话上下文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</a:rPr>
              <a:t>记住每个人的发言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</a:rPr>
              <a:t>综合多人信息回复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126480" y="1188720"/>
            <a:ext cx="2743200" cy="1783080"/>
          </a:xfrm>
          <a:prstGeom prst="roundRect">
            <a:avLst>
              <a:gd name="adj" fmla="val 6154"/>
            </a:avLst>
          </a:prstGeom>
          <a:solidFill>
            <a:srgbClr val="2D1B4E">
              <a:alpha val="70000"/>
            </a:srgbClr>
          </a:solidFill>
          <a:ln/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26480" y="1188720"/>
            <a:ext cx="2743200" cy="54864"/>
          </a:xfrm>
          <a:prstGeom prst="rect">
            <a:avLst/>
          </a:prstGeom>
          <a:solidFill>
            <a:srgbClr val="B347FF"/>
          </a:solidFill>
          <a:ln/>
        </p:spPr>
      </p:sp>
      <p:sp>
        <p:nvSpPr>
          <p:cNvPr id="20" name="Shape 15"/>
          <p:cNvSpPr/>
          <p:nvPr/>
        </p:nvSpPr>
        <p:spPr>
          <a:xfrm>
            <a:off x="6263640" y="1371600"/>
            <a:ext cx="548640" cy="548640"/>
          </a:xfrm>
          <a:prstGeom prst="ellipse">
            <a:avLst/>
          </a:prstGeom>
          <a:solidFill>
            <a:srgbClr val="B347FF">
              <a:alpha val="15000"/>
            </a:srgbClr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1435608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1389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语音合成 TTS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263640" y="20116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</a:rPr>
              <a:t>edge-tts 高质量语音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</a:rPr>
              <a:t>多种音色可选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</a:rPr>
              <a:t>语速可调节(1-9级)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65760" y="3108960"/>
            <a:ext cx="2743200" cy="1783080"/>
          </a:xfrm>
          <a:prstGeom prst="roundRect">
            <a:avLst>
              <a:gd name="adj" fmla="val 6154"/>
            </a:avLst>
          </a:prstGeom>
          <a:solidFill>
            <a:srgbClr val="0B4F6C">
              <a:alpha val="70000"/>
            </a:srgbClr>
          </a:solidFill>
          <a:ln/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5760" y="3108960"/>
            <a:ext cx="27432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6" name="Shape 20"/>
          <p:cNvSpPr/>
          <p:nvPr/>
        </p:nvSpPr>
        <p:spPr>
          <a:xfrm>
            <a:off x="502920" y="3291840"/>
            <a:ext cx="548640" cy="548640"/>
          </a:xfrm>
          <a:prstGeom prst="ellipse">
            <a:avLst/>
          </a:prstGeom>
          <a:solidFill>
            <a:srgbClr val="00D4FF">
              <a:alpha val="15000"/>
            </a:srgbClr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3355848"/>
            <a:ext cx="420624" cy="42062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43000" y="33101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语音识别 STT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502920" y="3931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</a:rPr>
              <a:t>SenseVoice / Whisper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</a:rPr>
              <a:t>语音转文字后处理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</a:rPr>
              <a:t>支持 SILK 格式解码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246120" y="3108960"/>
            <a:ext cx="2743200" cy="1783080"/>
          </a:xfrm>
          <a:prstGeom prst="roundRect">
            <a:avLst>
              <a:gd name="adj" fmla="val 6154"/>
            </a:avLst>
          </a:prstGeom>
          <a:solidFill>
            <a:srgbClr val="4A3728">
              <a:alpha val="70000"/>
            </a:srgbClr>
          </a:solidFill>
          <a:ln/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246120" y="3108960"/>
            <a:ext cx="27432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2" name="Shape 25"/>
          <p:cNvSpPr/>
          <p:nvPr/>
        </p:nvSpPr>
        <p:spPr>
          <a:xfrm>
            <a:off x="3383280" y="3291840"/>
            <a:ext cx="548640" cy="548640"/>
          </a:xfrm>
          <a:prstGeom prst="ellipse">
            <a:avLst/>
          </a:prstGeom>
          <a:solidFill>
            <a:srgbClr val="FBBF24">
              <a:alpha val="15000"/>
            </a:srgbClr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7288" y="3355848"/>
            <a:ext cx="420624" cy="42062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023360" y="33101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图片识别 Vision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3383280" y="3931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</a:rPr>
              <a:t>AI 描述图片内容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</a:rPr>
              <a:t>@图片自动触发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</a:rPr>
              <a:t>需 vision 支持模型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126480" y="3108960"/>
            <a:ext cx="2743200" cy="1783080"/>
          </a:xfrm>
          <a:prstGeom prst="roundRect">
            <a:avLst>
              <a:gd name="adj" fmla="val 6154"/>
            </a:avLst>
          </a:prstGeom>
          <a:solidFill>
            <a:srgbClr val="4A1942">
              <a:alpha val="70000"/>
            </a:srgbClr>
          </a:solidFill>
          <a:ln/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126480" y="3108960"/>
            <a:ext cx="2743200" cy="54864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38" name="Shape 30"/>
          <p:cNvSpPr/>
          <p:nvPr/>
        </p:nvSpPr>
        <p:spPr>
          <a:xfrm>
            <a:off x="6263640" y="3291840"/>
            <a:ext cx="548640" cy="548640"/>
          </a:xfrm>
          <a:prstGeom prst="ellipse">
            <a:avLst/>
          </a:prstGeom>
          <a:solidFill>
            <a:srgbClr val="FF6B9D">
              <a:alpha val="15000"/>
            </a:srgbClr>
          </a:solidFill>
          <a:ln/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7648" y="3355848"/>
            <a:ext cx="420624" cy="42062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903720" y="33101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占卜娱乐系统</a:t>
            </a:r>
            <a:endParaRPr lang="en-US" sz="1500" dirty="0"/>
          </a:p>
        </p:txBody>
      </p:sp>
      <p:sp>
        <p:nvSpPr>
          <p:cNvPr id="41" name="Text 32"/>
          <p:cNvSpPr/>
          <p:nvPr/>
        </p:nvSpPr>
        <p:spPr>
          <a:xfrm>
            <a:off x="6263640" y="3931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</a:rPr>
              <a:t>观音灵签 · 塔罗牌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</a:rPr>
              <a:t>今日运势 · 随机占卜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8892B0"/>
                </a:solidFill>
              </a:rPr>
              <a:t>民俗黄历宜忌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1595628" y="39776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所有功能均可通过 .env 配置文件独立开关，按需启用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>
              <a:alpha val="4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828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系统架构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43000" y="566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C8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200400" y="114300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12B886">
              <a:alpha val="75000"/>
            </a:srgbClr>
          </a:solidFill>
          <a:ln/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261872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94760" y="1143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 / NapCat / LagRange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00400" y="17556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OneBot Protocol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43484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8EFF"/>
                </a:solidFill>
              </a:rPr>
              <a:t>▼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200400" y="228600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6C8EFF">
              <a:alpha val="70000"/>
            </a:srgbClr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2377440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49040" y="22860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双向通信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43484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8EFF"/>
                </a:solidFill>
              </a:rPr>
              <a:t>▼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1828800" y="3154680"/>
            <a:ext cx="5486400" cy="1188720"/>
          </a:xfrm>
          <a:prstGeom prst="roundRect">
            <a:avLst>
              <a:gd name="adj" fmla="val 11538"/>
            </a:avLst>
          </a:prstGeom>
          <a:solidFill>
            <a:srgbClr val="1E2761">
              <a:alpha val="65000"/>
            </a:srgbClr>
          </a:solidFill>
          <a:ln w="19050">
            <a:solidFill>
              <a:srgbClr val="6C8EFF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5960" y="333756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56032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8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QQTalker Core Engine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1965960" y="374904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0A0E1A">
              <a:alpha val="80000"/>
            </a:srgbClr>
          </a:solidFill>
          <a:ln/>
        </p:spPr>
      </p:sp>
      <p:sp>
        <p:nvSpPr>
          <p:cNvPr id="19" name="Text 13"/>
          <p:cNvSpPr/>
          <p:nvPr/>
        </p:nvSpPr>
        <p:spPr>
          <a:xfrm>
            <a:off x="1965960" y="37490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MessageHandler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3273552" y="374904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0A0E1A">
              <a:alpha val="8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3273552" y="37490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SessionMgr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4581144" y="374904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0A0E1A">
              <a:alpha val="8000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4581144" y="37490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OneBotClient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5888736" y="374904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0A0E1A">
              <a:alpha val="8000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5888736" y="37490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CodeBuddyClient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274320" y="123444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4ADE80">
              <a:alpha val="70000"/>
            </a:srgbClr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137160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9808" y="1234440"/>
            <a:ext cx="850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TTSService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274320" y="1984248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00D4FF">
              <a:alpha val="70000"/>
            </a:srgbClr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" y="2121408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49808" y="1984248"/>
            <a:ext cx="850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STTService</a:t>
            </a:r>
            <a:endParaRPr lang="en-US" sz="800" dirty="0"/>
          </a:p>
        </p:txBody>
      </p:sp>
      <p:sp>
        <p:nvSpPr>
          <p:cNvPr id="32" name="Shape 24"/>
          <p:cNvSpPr/>
          <p:nvPr/>
        </p:nvSpPr>
        <p:spPr>
          <a:xfrm>
            <a:off x="274320" y="2734056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BBF24">
              <a:alpha val="70000"/>
            </a:srgbClr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" y="2871216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49808" y="2734056"/>
            <a:ext cx="850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VisionService</a:t>
            </a:r>
            <a:endParaRPr lang="en-US" sz="800" dirty="0"/>
          </a:p>
        </p:txBody>
      </p:sp>
      <p:sp>
        <p:nvSpPr>
          <p:cNvPr id="35" name="Shape 26"/>
          <p:cNvSpPr/>
          <p:nvPr/>
        </p:nvSpPr>
        <p:spPr>
          <a:xfrm>
            <a:off x="7498080" y="123444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6B9D">
              <a:alpha val="70000"/>
            </a:srgbClr>
          </a:solidFill>
          <a:ln/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9520" y="1371600"/>
            <a:ext cx="347472" cy="34747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973568" y="1234440"/>
            <a:ext cx="850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DivinationSvc</a:t>
            </a:r>
            <a:endParaRPr lang="en-US" sz="800" dirty="0"/>
          </a:p>
        </p:txBody>
      </p:sp>
      <p:sp>
        <p:nvSpPr>
          <p:cNvPr id="38" name="Shape 28"/>
          <p:cNvSpPr/>
          <p:nvPr/>
        </p:nvSpPr>
        <p:spPr>
          <a:xfrm>
            <a:off x="7498080" y="1984248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B347FF">
              <a:alpha val="70000"/>
            </a:srgbClr>
          </a:solidFill>
          <a:ln/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89520" y="2121408"/>
            <a:ext cx="347472" cy="34747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973568" y="1984248"/>
            <a:ext cx="850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SchedulerSvc</a:t>
            </a:r>
            <a:endParaRPr lang="en-US" sz="800" dirty="0"/>
          </a:p>
        </p:txBody>
      </p:sp>
      <p:sp>
        <p:nvSpPr>
          <p:cNvPr id="41" name="Shape 30"/>
          <p:cNvSpPr/>
          <p:nvPr/>
        </p:nvSpPr>
        <p:spPr>
          <a:xfrm>
            <a:off x="7498080" y="2734056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6C8EFF">
              <a:alpha val="70000"/>
            </a:srgbClr>
          </a:solidFill>
          <a:ln/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89520" y="2871216"/>
            <a:ext cx="347472" cy="34747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973568" y="2734056"/>
            <a:ext cx="850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DashboardSvc</a:t>
            </a:r>
            <a:endParaRPr lang="en-US" sz="800" dirty="0"/>
          </a:p>
        </p:txBody>
      </p:sp>
      <p:sp>
        <p:nvSpPr>
          <p:cNvPr id="44" name="Text 32"/>
          <p:cNvSpPr/>
          <p:nvPr/>
        </p:nvSpPr>
        <p:spPr>
          <a:xfrm>
            <a:off x="7406640" y="3520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C8EFF"/>
                </a:solidFill>
              </a:rPr>
              <a:t>▶</a:t>
            </a:r>
            <a:endParaRPr lang="en-US" sz="1600" dirty="0"/>
          </a:p>
        </p:txBody>
      </p:sp>
      <p:sp>
        <p:nvSpPr>
          <p:cNvPr id="45" name="Text 33"/>
          <p:cNvSpPr/>
          <p:nvPr/>
        </p:nvSpPr>
        <p:spPr>
          <a:xfrm>
            <a:off x="5440680" y="3520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DE80"/>
                </a:solidFill>
              </a:rPr>
              <a:t>▶</a:t>
            </a:r>
            <a:endParaRPr lang="en-US" sz="1600" dirty="0"/>
          </a:p>
        </p:txBody>
      </p:sp>
      <p:sp>
        <p:nvSpPr>
          <p:cNvPr id="46" name="Shape 34"/>
          <p:cNvSpPr/>
          <p:nvPr/>
        </p:nvSpPr>
        <p:spPr>
          <a:xfrm>
            <a:off x="5943600" y="4434840"/>
            <a:ext cx="2926080" cy="594360"/>
          </a:xfrm>
          <a:prstGeom prst="roundRect">
            <a:avLst>
              <a:gd name="adj" fmla="val 15385"/>
            </a:avLst>
          </a:prstGeom>
          <a:solidFill>
            <a:srgbClr val="B347FF">
              <a:alpha val="70000"/>
            </a:srgbClr>
          </a:solidFill>
          <a:ln/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80760" y="4544568"/>
            <a:ext cx="365760" cy="36576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510528" y="44348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/ OpenAI API</a:t>
            </a:r>
            <a:endParaRPr lang="en-US" sz="1200" dirty="0"/>
          </a:p>
        </p:txBody>
      </p:sp>
      <p:sp>
        <p:nvSpPr>
          <p:cNvPr id="49" name="Shape 36"/>
          <p:cNvSpPr/>
          <p:nvPr/>
        </p:nvSpPr>
        <p:spPr>
          <a:xfrm>
            <a:off x="274320" y="443484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4ADE80">
              <a:alpha val="70000"/>
            </a:srgbClr>
          </a:solidFill>
          <a:ln/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1480" y="4544568"/>
            <a:ext cx="365760" cy="365760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841248" y="443484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:3180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>
              <a:alpha val="4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828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前端界面 - Dashboard 控制台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43000" y="566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C8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 DASHBOARD CONSOLE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5303520" cy="3749040"/>
          </a:xfrm>
          <a:prstGeom prst="roundRect">
            <a:avLst>
              <a:gd name="adj" fmla="val 292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90500" dist="50800" dir="162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188720"/>
            <a:ext cx="530352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289304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1289304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1289304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/>
          <p:cNvSpPr/>
          <p:nvPr/>
        </p:nvSpPr>
        <p:spPr>
          <a:xfrm>
            <a:off x="1097280" y="1252728"/>
            <a:ext cx="4389120" cy="201168"/>
          </a:xfrm>
          <a:prstGeom prst="roundRect">
            <a:avLst>
              <a:gd name="adj" fmla="val 27273"/>
            </a:avLst>
          </a:prstGeom>
          <a:solidFill>
            <a:srgbClr val="0D1117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125272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http://localhost:3180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57200" y="1600200"/>
            <a:ext cx="512064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700784"/>
            <a:ext cx="182880" cy="1828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1600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ONLINE  •  运行中  •  已连接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0" y="1600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Uptime: 2h 15m 33s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02920" y="21031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212140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8A6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1,284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02920" y="2487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消息数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764792" y="21031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/>
        </p:spPr>
      </p:sp>
      <p:sp>
        <p:nvSpPr>
          <p:cNvPr id="21" name="Text 18"/>
          <p:cNvSpPr/>
          <p:nvPr/>
        </p:nvSpPr>
        <p:spPr>
          <a:xfrm>
            <a:off x="1764792" y="212140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371F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892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764792" y="2487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AI调用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3026664" y="21031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/>
        </p:spPr>
      </p:sp>
      <p:sp>
        <p:nvSpPr>
          <p:cNvPr id="24" name="Text 21"/>
          <p:cNvSpPr/>
          <p:nvPr/>
        </p:nvSpPr>
        <p:spPr>
          <a:xfrm>
            <a:off x="3026664" y="212140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FB95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456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3026664" y="2487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TTS次数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288536" y="21031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/>
        </p:spPr>
      </p:sp>
      <p:sp>
        <p:nvSpPr>
          <p:cNvPr id="27" name="Text 24"/>
          <p:cNvSpPr/>
          <p:nvPr/>
        </p:nvSpPr>
        <p:spPr>
          <a:xfrm>
            <a:off x="4288536" y="212140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7816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12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4288536" y="2487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活跃群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02920" y="288036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2926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ACTIVITY LOG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94360" y="321868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19:47:12  [被动回复] -&gt; 群1080352376: 大家好！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594360" y="348386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19:47:08  [TTS] 语音合成 #456 完成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594360" y="374904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19:46:55  [占卜] 观音灵签 第42签 - 中吉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94360" y="401421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19:46:41  [Vision] 图片识别完成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594360" y="427939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19:46:30  [STT] 识别结果: 今天天气真好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5852160" y="1188720"/>
            <a:ext cx="3017520" cy="3749040"/>
          </a:xfrm>
          <a:prstGeom prst="roundRect">
            <a:avLst>
              <a:gd name="adj" fmla="val 3636"/>
            </a:avLst>
          </a:prstGeom>
          <a:solidFill>
            <a:srgbClr val="1E2761">
              <a:alpha val="55000"/>
            </a:srgbClr>
          </a:solidFill>
          <a:ln/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5989320" y="1325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8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控制台功能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989320" y="1783080"/>
            <a:ext cx="347472" cy="347472"/>
          </a:xfrm>
          <a:prstGeom prst="ellipse">
            <a:avLst/>
          </a:prstGeom>
          <a:solidFill>
            <a:srgbClr val="6C8EFF">
              <a:alpha val="15000"/>
            </a:srgbClr>
          </a:solidFill>
          <a:ln/>
        </p:spPr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828800"/>
            <a:ext cx="256032" cy="256032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6400800" y="17647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8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仪表盘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6400800" y="202082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运行状态、消息统计、系统资源实时显示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5989320" y="2441448"/>
            <a:ext cx="347472" cy="347472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2487168"/>
            <a:ext cx="256032" cy="256032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6400800" y="2423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活动日志</a:t>
            </a:r>
            <a:endParaRPr lang="en-US" sz="1100" dirty="0"/>
          </a:p>
        </p:txBody>
      </p:sp>
      <p:sp>
        <p:nvSpPr>
          <p:cNvPr id="45" name="Text 40"/>
          <p:cNvSpPr/>
          <p:nvPr/>
        </p:nvSpPr>
        <p:spPr>
          <a:xfrm>
            <a:off x="6400800" y="26791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实时日志流，支持搜索和筛选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5989320" y="3099816"/>
            <a:ext cx="347472" cy="347472"/>
          </a:xfrm>
          <a:prstGeom prst="ellipse">
            <a:avLst/>
          </a:prstGeom>
          <a:solidFill>
            <a:srgbClr val="B347FF">
              <a:alpha val="15000"/>
            </a:srgbClr>
          </a:solidFill>
          <a:ln/>
        </p:spPr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3145536"/>
            <a:ext cx="256032" cy="256032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6400800" y="30815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数据分析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6400800" y="33375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图表展示消息趋势、AI调用统计等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5989320" y="3758184"/>
            <a:ext cx="347472" cy="347472"/>
          </a:xfrm>
          <a:prstGeom prst="ellipse">
            <a:avLst/>
          </a:prstGeom>
          <a:solidFill>
            <a:srgbClr val="FBBF24">
              <a:alpha val="15000"/>
            </a:srgbClr>
          </a:solidFill>
          <a:ln/>
        </p:spPr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3803904"/>
            <a:ext cx="256032" cy="256032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6400800" y="37398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配置管理</a:t>
            </a:r>
            <a:endParaRPr lang="en-US" sz="1100" dirty="0"/>
          </a:p>
        </p:txBody>
      </p:sp>
      <p:sp>
        <p:nvSpPr>
          <p:cNvPr id="53" name="Text 46"/>
          <p:cNvSpPr/>
          <p:nvPr/>
        </p:nvSpPr>
        <p:spPr>
          <a:xfrm>
            <a:off x="6400800" y="39959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在线修改 .env 配置，支持热重载</a:t>
            </a:r>
            <a:endParaRPr lang="en-US" sz="900" dirty="0"/>
          </a:p>
        </p:txBody>
      </p:sp>
      <p:sp>
        <p:nvSpPr>
          <p:cNvPr id="54" name="Shape 47"/>
          <p:cNvSpPr/>
          <p:nvPr/>
        </p:nvSpPr>
        <p:spPr>
          <a:xfrm>
            <a:off x="5989320" y="4416552"/>
            <a:ext cx="347472" cy="347472"/>
          </a:xfrm>
          <a:prstGeom prst="ellipse">
            <a:avLst/>
          </a:prstGeom>
          <a:solidFill>
            <a:srgbClr val="00D4FF">
              <a:alpha val="15000"/>
            </a:srgbClr>
          </a:solidFill>
          <a:ln/>
        </p:spPr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0" y="4462272"/>
            <a:ext cx="256032" cy="256032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6400800" y="43982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进程信息</a:t>
            </a:r>
            <a:endParaRPr lang="en-US" sz="1100" dirty="0"/>
          </a:p>
        </p:txBody>
      </p:sp>
      <p:sp>
        <p:nvSpPr>
          <p:cNvPr id="57" name="Text 49"/>
          <p:cNvSpPr/>
          <p:nvPr/>
        </p:nvSpPr>
        <p:spPr>
          <a:xfrm>
            <a:off x="6400800" y="465429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查看系统资源占用和运行状态</a:t>
            </a:r>
            <a:endParaRPr lang="en-US" sz="900" dirty="0"/>
          </a:p>
        </p:txBody>
      </p:sp>
      <p:sp>
        <p:nvSpPr>
          <p:cNvPr id="58" name="Shape 50"/>
          <p:cNvSpPr/>
          <p:nvPr/>
        </p:nvSpPr>
        <p:spPr>
          <a:xfrm>
            <a:off x="5943600" y="374904"/>
            <a:ext cx="347472" cy="347472"/>
          </a:xfrm>
          <a:prstGeom prst="ellipse">
            <a:avLst/>
          </a:prstGeom>
          <a:solidFill>
            <a:srgbClr val="FF6B9D">
              <a:alpha val="15000"/>
            </a:srgbClr>
          </a:solidFill>
          <a:ln/>
        </p:spPr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9320" y="420624"/>
            <a:ext cx="256032" cy="256032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6355080" y="3566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日志分析器</a:t>
            </a:r>
            <a:endParaRPr lang="en-US" sz="1100" dirty="0"/>
          </a:p>
        </p:txBody>
      </p:sp>
      <p:sp>
        <p:nvSpPr>
          <p:cNvPr id="61" name="Text 52"/>
          <p:cNvSpPr/>
          <p:nvPr/>
        </p:nvSpPr>
        <p:spPr>
          <a:xfrm>
            <a:off x="6355080" y="6126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专业日志分析，8个统计指标+可视化图表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>
              <a:alpha val="4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828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更多功能特性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43000" y="566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C8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MORE FEATURES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4114800" cy="3749040"/>
          </a:xfrm>
          <a:prstGeom prst="roundRect">
            <a:avLst>
              <a:gd name="adj" fmla="val 2927"/>
            </a:avLst>
          </a:prstGeom>
          <a:solidFill>
            <a:srgbClr val="1E2761">
              <a:alpha val="60000"/>
            </a:srgbClr>
          </a:solidFill>
          <a:ln/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" y="11612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C8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交互功能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1618488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6696" y="1629460"/>
            <a:ext cx="1645920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8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@触发机制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96696" y="1887582"/>
            <a:ext cx="3383280" cy="2429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群内 @机器人 即可唤醒AI助手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2185416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96696" y="2196388"/>
            <a:ext cx="1645920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被动插聊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996696" y="2454510"/>
            <a:ext cx="3383280" cy="2429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15%概率主动参与群聊（带上下文理解）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2752344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96696" y="2763316"/>
            <a:ext cx="1645920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入群欢迎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996696" y="3021438"/>
            <a:ext cx="3383280" cy="2429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新成员入群自动发送个性化欢迎语</a:t>
            </a:r>
            <a:endParaRPr lang="en-US" sz="9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3319272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96696" y="3330244"/>
            <a:ext cx="1645920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定时问候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996696" y="3588366"/>
            <a:ext cx="3383280" cy="2429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每日早安/午安/晚安/运势广播</a:t>
            </a:r>
            <a:endParaRPr lang="en-US" sz="9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" y="3886200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96696" y="3897172"/>
            <a:ext cx="1645920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Astrbot转发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996696" y="4155294"/>
            <a:ext cx="3383280" cy="2429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消息转发给其他AI机器人，实现多AI协作</a:t>
            </a:r>
            <a:endParaRPr lang="en-US" sz="9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" y="4453128"/>
            <a:ext cx="320040" cy="32004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96696" y="4464100"/>
            <a:ext cx="1645920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自动重连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996696" y="4722222"/>
            <a:ext cx="3383280" cy="2429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断线指数退避重连机制，稳定可靠</a:t>
            </a:r>
            <a:endParaRPr lang="en-US" sz="950" dirty="0"/>
          </a:p>
        </p:txBody>
      </p:sp>
      <p:sp>
        <p:nvSpPr>
          <p:cNvPr id="26" name="Shape 17"/>
          <p:cNvSpPr/>
          <p:nvPr/>
        </p:nvSpPr>
        <p:spPr>
          <a:xfrm>
            <a:off x="4663440" y="1188720"/>
            <a:ext cx="4114800" cy="3749040"/>
          </a:xfrm>
          <a:prstGeom prst="roundRect">
            <a:avLst>
              <a:gd name="adj" fmla="val 2927"/>
            </a:avLst>
          </a:prstGeom>
          <a:solidFill>
            <a:srgbClr val="1E2761">
              <a:alpha val="60000"/>
            </a:srgbClr>
          </a:solidFill>
          <a:ln/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18"/>
          <p:cNvSpPr/>
          <p:nvPr/>
        </p:nvSpPr>
        <p:spPr>
          <a:xfrm>
            <a:off x="4910328" y="11612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34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系统能力</a:t>
            </a:r>
            <a:endParaRPr lang="en-US" sz="17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0328" y="1618488"/>
            <a:ext cx="320040" cy="32004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294376" y="1629460"/>
            <a:ext cx="1645920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频率控制</a:t>
            </a:r>
            <a:endParaRPr lang="en-US" sz="1200" dirty="0"/>
          </a:p>
        </p:txBody>
      </p:sp>
      <p:sp>
        <p:nvSpPr>
          <p:cNvPr id="30" name="Text 20"/>
          <p:cNvSpPr/>
          <p:nvPr/>
        </p:nvSpPr>
        <p:spPr>
          <a:xfrm>
            <a:off x="5294376" y="18562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自适应发送限速，避免QQ风控封号</a:t>
            </a:r>
            <a:endParaRPr lang="en-US" sz="95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0328" y="2185416"/>
            <a:ext cx="320040" cy="32004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294376" y="2196388"/>
            <a:ext cx="1645920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8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屏蔽管理</a:t>
            </a:r>
            <a:endParaRPr lang="en-US" sz="1200" dirty="0"/>
          </a:p>
        </p:txBody>
      </p:sp>
      <p:sp>
        <p:nvSpPr>
          <p:cNvPr id="33" name="Text 22"/>
          <p:cNvSpPr/>
          <p:nvPr/>
        </p:nvSpPr>
        <p:spPr>
          <a:xfrm>
            <a:off x="5294376" y="2423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支持用户/群组黑白名单管理</a:t>
            </a:r>
            <a:endParaRPr lang="en-US" sz="95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10328" y="2752344"/>
            <a:ext cx="320040" cy="32004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5294376" y="2763316"/>
            <a:ext cx="1645920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双模式会话</a:t>
            </a:r>
            <a:endParaRPr lang="en-US" sz="1200" dirty="0"/>
          </a:p>
        </p:txBody>
      </p:sp>
      <p:sp>
        <p:nvSpPr>
          <p:cNvPr id="36" name="Text 24"/>
          <p:cNvSpPr/>
          <p:nvPr/>
        </p:nvSpPr>
        <p:spPr>
          <a:xfrm>
            <a:off x="5294376" y="29900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群聊共享上下文 / 私聊独立对话切换</a:t>
            </a:r>
            <a:endParaRPr lang="en-US" sz="95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10328" y="3319272"/>
            <a:ext cx="320040" cy="32004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5294376" y="3330244"/>
            <a:ext cx="1645920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图片代理</a:t>
            </a:r>
            <a:endParaRPr lang="en-US" sz="1200" dirty="0"/>
          </a:p>
        </p:txBody>
      </p:sp>
      <p:sp>
        <p:nvSpPr>
          <p:cNvPr id="39" name="Text 26"/>
          <p:cNvSpPr/>
          <p:nvPr/>
        </p:nvSpPr>
        <p:spPr>
          <a:xfrm>
            <a:off x="5294376" y="35570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服务端图片中转，绕过防盗链限制</a:t>
            </a:r>
            <a:endParaRPr lang="en-US" sz="95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10328" y="3886200"/>
            <a:ext cx="320040" cy="320040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5294376" y="3897172"/>
            <a:ext cx="1645920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合并转发</a:t>
            </a:r>
            <a:endParaRPr lang="en-US" sz="1200" dirty="0"/>
          </a:p>
        </p:txBody>
      </p:sp>
      <p:sp>
        <p:nvSpPr>
          <p:cNvPr id="42" name="Text 28"/>
          <p:cNvSpPr/>
          <p:nvPr/>
        </p:nvSpPr>
        <p:spPr>
          <a:xfrm>
            <a:off x="5294376" y="41239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解析合并转发消息内容并展示</a:t>
            </a:r>
            <a:endParaRPr lang="en-US" sz="950" dirty="0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10328" y="4453128"/>
            <a:ext cx="320040" cy="320040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5294376" y="4464100"/>
            <a:ext cx="1645920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单文件部署</a:t>
            </a:r>
            <a:endParaRPr lang="en-US" sz="1200" dirty="0"/>
          </a:p>
        </p:txBody>
      </p:sp>
      <p:sp>
        <p:nvSpPr>
          <p:cNvPr id="45" name="Text 30"/>
          <p:cNvSpPr/>
          <p:nvPr/>
        </p:nvSpPr>
        <p:spPr>
          <a:xfrm>
            <a:off x="5294376" y="46908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pkg 打包为独立 exe，零依赖运行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69">
              <a:alpha val="8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828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占卜娱乐系统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43000" y="5669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FF6B9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DIVINATION &amp; ENTERTAINMENT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4206240" cy="1737360"/>
          </a:xfrm>
          <a:prstGeom prst="roundRect">
            <a:avLst>
              <a:gd name="adj" fmla="val 7895"/>
            </a:avLst>
          </a:prstGeom>
          <a:solidFill>
            <a:srgbClr val="4A1942">
              <a:alpha val="75000"/>
            </a:srgbClr>
          </a:solidFill>
          <a:ln w="12700">
            <a:solidFill>
              <a:srgbClr val="FF6B9D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371600"/>
            <a:ext cx="731520" cy="731520"/>
          </a:xfrm>
          <a:prstGeom prst="ellipse">
            <a:avLst/>
          </a:prstGeom>
          <a:solidFill>
            <a:srgbClr val="FF6B9D">
              <a:alpha val="2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444752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🌳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37160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9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观音灵签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3383280" y="1417320"/>
            <a:ext cx="1051560" cy="320040"/>
          </a:xfrm>
          <a:prstGeom prst="roundRect">
            <a:avLst>
              <a:gd name="adj" fmla="val 17143"/>
            </a:avLst>
          </a:prstGeom>
          <a:solidFill>
            <a:srgbClr val="FF6B9D">
              <a:alpha val="3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383280" y="141732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@Claw 抽签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48640" y="21031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100签随机抽取，每签附详细解签内容。上上/上吉/中吉/下吉等级评定。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1188720"/>
            <a:ext cx="4206240" cy="1737360"/>
          </a:xfrm>
          <a:prstGeom prst="roundRect">
            <a:avLst>
              <a:gd name="adj" fmla="val 7895"/>
            </a:avLst>
          </a:prstGeom>
          <a:solidFill>
            <a:srgbClr val="3B1F5C">
              <a:alpha val="75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937760" y="1371600"/>
            <a:ext cx="731520" cy="731520"/>
          </a:xfrm>
          <a:prstGeom prst="ellipse">
            <a:avLst/>
          </a:prstGeom>
          <a:solidFill>
            <a:srgbClr val="A855F7">
              <a:alpha val="2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937760" y="1444752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🃏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76072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塔罗牌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772400" y="1417320"/>
            <a:ext cx="1051560" cy="320040"/>
          </a:xfrm>
          <a:prstGeom prst="roundRect">
            <a:avLst>
              <a:gd name="adj" fmla="val 17143"/>
            </a:avLst>
          </a:prstGeom>
          <a:solidFill>
            <a:srgbClr val="A855F7">
              <a:alpha val="3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0" y="141732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@Claw 塔罗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937760" y="21031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从22张大阿卡纳牌阵中随机抽一张，解读正位/逆位含义。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3063240"/>
            <a:ext cx="4206240" cy="1737360"/>
          </a:xfrm>
          <a:prstGeom prst="roundRect">
            <a:avLst>
              <a:gd name="adj" fmla="val 7895"/>
            </a:avLst>
          </a:prstGeom>
          <a:solidFill>
            <a:srgbClr val="4A3F1A">
              <a:alpha val="75000"/>
            </a:srgbClr>
          </a:solidFill>
          <a:ln w="12700">
            <a:solidFill>
              <a:srgbClr val="FBBF24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48640" y="3246120"/>
            <a:ext cx="731520" cy="731520"/>
          </a:xfrm>
          <a:prstGeom prst="ellipse">
            <a:avLst/>
          </a:prstGeom>
          <a:solidFill>
            <a:srgbClr val="FBBF24">
              <a:alpha val="2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3319272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♈️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1371600" y="3246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今日运势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3383280" y="3291840"/>
            <a:ext cx="1051560" cy="320040"/>
          </a:xfrm>
          <a:prstGeom prst="roundRect">
            <a:avLst>
              <a:gd name="adj" fmla="val 17143"/>
            </a:avLst>
          </a:prstGeom>
          <a:solidFill>
            <a:srgbClr val="FBBF24">
              <a:alpha val="3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3383280" y="329184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@Claw 运势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8640" y="39776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爱情/事业/财运/综合四个维度运势评估，每日更新。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754880" y="3063240"/>
            <a:ext cx="4206240" cy="1737360"/>
          </a:xfrm>
          <a:prstGeom prst="roundRect">
            <a:avLst>
              <a:gd name="adj" fmla="val 7895"/>
            </a:avLst>
          </a:prstGeom>
          <a:solidFill>
            <a:srgbClr val="134A5C">
              <a:alpha val="75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937760" y="3246120"/>
            <a:ext cx="731520" cy="731520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4937760" y="3319272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✨</a:t>
            </a:r>
            <a:endParaRPr lang="en-US" sz="2800" dirty="0"/>
          </a:p>
        </p:txBody>
      </p:sp>
      <p:sp>
        <p:nvSpPr>
          <p:cNvPr id="30" name="Text 27"/>
          <p:cNvSpPr/>
          <p:nvPr/>
        </p:nvSpPr>
        <p:spPr>
          <a:xfrm>
            <a:off x="5760720" y="3246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随机占卜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7772400" y="3291840"/>
            <a:ext cx="1051560" cy="320040"/>
          </a:xfrm>
          <a:prstGeom prst="roundRect">
            <a:avLst>
              <a:gd name="adj" fmla="val 17143"/>
            </a:avLst>
          </a:prstGeom>
          <a:solidFill>
            <a:srgbClr val="06B6D4">
              <a:alpha val="3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7772400" y="329184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@Claw 占卜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937760" y="39776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混合多种术数的神秘结果，每次都有不同惊喜。</a:t>
            </a:r>
            <a:endParaRPr lang="en-US" sz="110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448056"/>
            <a:ext cx="256032" cy="25603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4434840" y="3886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占卜结果由本地算法生成，不消耗 AI 额度，响应速度快，趣味性强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>
              <a:alpha val="4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828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快速开始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43000" y="566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C8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QUICK START GUIDE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1E2761">
              <a:alpha val="60000"/>
            </a:srgbClr>
          </a:solidFill>
          <a:ln/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43000" y="1325880"/>
            <a:ext cx="548640" cy="548640"/>
          </a:xfrm>
          <a:prstGeom prst="ellipse">
            <a:avLst/>
          </a:prstGeom>
          <a:solidFill>
            <a:srgbClr val="6C8EFF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C8E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1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19659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8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克隆项目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278892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050810">
              <a:alpha val="8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530352" y="2834640"/>
            <a:ext cx="177393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&lt;repo&gt; &amp;&amp; cd QQTalker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2450592" y="23774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2578608" y="118872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1E2761">
              <a:alpha val="60000"/>
            </a:srgbClr>
          </a:solidFill>
          <a:ln/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355848" y="1325880"/>
            <a:ext cx="548640" cy="548640"/>
          </a:xfrm>
          <a:prstGeom prst="ellipse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3355848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DE8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18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19659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578608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配置环境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2670048" y="278892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050810">
              <a:alpha val="8000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2743200" y="2834640"/>
            <a:ext cx="177393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编辑 .env 配置 API Key 等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4663440" y="23774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4791456" y="118872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1E2761">
              <a:alpha val="60000"/>
            </a:srgbClr>
          </a:solidFill>
          <a:ln/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568696" y="1325880"/>
            <a:ext cx="548640" cy="548640"/>
          </a:xfrm>
          <a:prstGeom prst="ellipse">
            <a:avLst/>
          </a:prstGeom>
          <a:solidFill>
            <a:srgbClr val="FBBF24">
              <a:alpha val="80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5568696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BBF2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8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0136" y="196596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791456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启动 OneBot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882896" y="278892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050810">
              <a:alpha val="8000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4956048" y="2834640"/>
            <a:ext cx="177393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确保 NapCat/LagRange 运行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WebSocket 服务已开启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6876288" y="23774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▶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7004304" y="118872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1E2761">
              <a:alpha val="60000"/>
            </a:srgbClr>
          </a:solidFill>
          <a:ln/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781544" y="1325880"/>
            <a:ext cx="548640" cy="548640"/>
          </a:xfrm>
          <a:prstGeom prst="ellipse">
            <a:avLst/>
          </a:prstGeom>
          <a:solidFill>
            <a:srgbClr val="FF6B9D">
              <a:alpha val="80000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7781544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6B9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18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2984" y="1965960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004304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9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启动服务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7095744" y="278892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050810">
              <a:alpha val="80000"/>
            </a:srgbClr>
          </a:solidFill>
          <a:ln/>
        </p:spPr>
      </p:sp>
      <p:sp>
        <p:nvSpPr>
          <p:cNvPr id="36" name="Text 29"/>
          <p:cNvSpPr/>
          <p:nvPr/>
        </p:nvSpPr>
        <p:spPr>
          <a:xfrm>
            <a:off x="7168896" y="2834640"/>
            <a:ext cx="177393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          # 开发模式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 &amp;&amp; npm start</a:t>
            </a:r>
            <a:endParaRPr lang="en-US" sz="800" dirty="0"/>
          </a:p>
        </p:txBody>
      </p:sp>
      <p:sp>
        <p:nvSpPr>
          <p:cNvPr id="37" name="Shape 30"/>
          <p:cNvSpPr/>
          <p:nvPr/>
        </p:nvSpPr>
        <p:spPr>
          <a:xfrm>
            <a:off x="365760" y="411480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4ADE80">
              <a:alpha val="75000"/>
            </a:srgbClr>
          </a:solidFill>
          <a:ln w="12700">
            <a:solidFill>
              <a:srgbClr val="4ADE80">
                <a:alpha val="40000"/>
              </a:srgbClr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4279392"/>
            <a:ext cx="411480" cy="4114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051560" y="4142232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</a:rPr>
              <a:t>启动成功！
</a:t>
            </a:r>
            <a:r>
              <a:rPr lang="en-US" sz="1200" dirty="0">
                <a:solidFill>
                  <a:srgbClr val="E2E8F0"/>
                </a:solidFill>
              </a:rPr>
              <a:t>访问 http://localhost:3180 打开 Dashboard 控制台，在群里 @你的机器人 即可开始对话！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6C8E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B347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3657600"/>
            <a:ext cx="2743200" cy="2743200"/>
          </a:xfrm>
          <a:prstGeom prst="ellipse">
            <a:avLst/>
          </a:prstGeom>
          <a:solidFill>
            <a:srgbClr val="6C8E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097280"/>
            <a:ext cx="6400800" cy="3017520"/>
          </a:xfrm>
          <a:prstGeom prst="roundRect">
            <a:avLst>
              <a:gd name="adj" fmla="val 6061"/>
            </a:avLst>
          </a:prstGeom>
          <a:solidFill>
            <a:srgbClr val="1E2761">
              <a:alpha val="60000"/>
            </a:srgbClr>
          </a:solidFill>
          <a:ln/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63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QQTalker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1371600" y="22860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让你的QQ群拥有真正的AI灵魂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200400" y="2880360"/>
            <a:ext cx="2743200" cy="27432"/>
          </a:xfrm>
          <a:prstGeom prst="rect">
            <a:avLst/>
          </a:prstGeom>
          <a:solidFill>
            <a:srgbClr val="6C8EFF">
              <a:alpha val="5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371600" y="3017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B0"/>
                </a:solidFill>
              </a:rPr>
              <a:t>GitHub Repository  •  MIT License  •  v1.0.0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2B0"/>
                </a:solidFill>
              </a:rPr>
              <a:t>Built with TypeScript • OneBot Protocol • OpenAI Compatible API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576</Words>
  <Application>Microsoft Office PowerPoint</Application>
  <PresentationFormat>全屏显示(16:9)</PresentationFormat>
  <Paragraphs>193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Consolas</vt:lpstr>
      <vt:lpstr>Impact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QQTalker - AI聊天机器人展示</dc:title>
  <dc:subject>PptxGenJS Presentation</dc:subject>
  <dc:creator>QQTalker</dc:creator>
  <cp:lastModifiedBy>昊天 吴</cp:lastModifiedBy>
  <cp:revision>7</cp:revision>
  <dcterms:created xsi:type="dcterms:W3CDTF">2026-04-08T12:10:07Z</dcterms:created>
  <dcterms:modified xsi:type="dcterms:W3CDTF">2026-04-08T12:18:09Z</dcterms:modified>
</cp:coreProperties>
</file>